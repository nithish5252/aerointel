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4114800" cy="3474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✈️ AEROINTEL SURVEILLANCE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</a:defRPr>
            </a:pPr>
            <a:r>
              <a:t>AEROINTEL</a:t>
            </a:r>
          </a:p>
          <a:p>
            <a:pPr>
              <a:spcAft>
                <a:spcPts val="1200"/>
              </a:spcAft>
              <a:defRPr sz="2000" b="1">
                <a:solidFill>
                  <a:srgbClr val="00F0FF"/>
                </a:solidFill>
              </a:defRPr>
            </a:pPr>
            <a:r>
              <a:t>Real-Time Indian Airspace Radar &amp; Flight Safety NLP Intelligence (Flightradar24 Style)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A unified intelligence platform combining live ADS-B transponder telemetry over Indian Airspace, directional aircraft icons, kinematic anomaly detection, and source-grounded safety report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480560"/>
            <a:ext cx="3291840" cy="1554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90288"/>
            <a:ext cx="29260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0F0FF"/>
                </a:solidFill>
              </a:defRPr>
            </a:pPr>
            <a:r>
              <a:t>INDIAN ADS-B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Primary Telemetry Engine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Live OpenSky stream over Delhi, Mumbai, BLR &amp; national FIRs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4480560"/>
            <a:ext cx="3291840" cy="1554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4590288"/>
            <a:ext cx="29260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0E676"/>
                </a:solidFill>
              </a:defRPr>
            </a:pPr>
            <a:r>
              <a:t>FLIGHTRADAR24 UI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Tactical Aircraft Icons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Rotated directional aircraft icons with dark radar styling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4480560"/>
            <a:ext cx="3291840" cy="1554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590288"/>
            <a:ext cx="292608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EA5E9"/>
                </a:solidFill>
              </a:defRPr>
            </a:pPr>
            <a:r>
              <a:t>22 / 22 PASSING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Rigorous Verification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Complete automated geospatial, ML, and rule test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01 OF 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02 / 10 • OPERATIONAL PARADIGM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The Aviation Surveillance Challenge vs. AeroIntel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Transforming disconnected telemetry streams and dense text narratives into unified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709928"/>
            <a:ext cx="5084064" cy="73152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Conventional Aviation Data Challenges</a:t>
            </a:r>
          </a:p>
          <a:p>
            <a:pPr>
              <a:spcAft>
                <a:spcPts val="1000"/>
              </a:spcAft>
              <a:defRPr sz="900" b="1">
                <a:solidFill>
                  <a:srgbClr val="FF3B5C"/>
                </a:solidFill>
              </a:defRPr>
            </a:pPr>
            <a:r>
              <a:t>[THE STATUS QUO]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3B5C"/>
                </a:solidFill>
              </a:rPr>
              <a:t>✦ Siloed Systems:</a:t>
            </a:r>
            <a:r>
              <a:rPr>
                <a:solidFill>
                  <a:srgbClr val="9CA3AF"/>
                </a:solidFill>
              </a:rPr>
              <a:t> High-frequency radar state vectors and narrative incident reports reside in disconnected databases.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3B5C"/>
                </a:solidFill>
              </a:rPr>
              <a:t>✦ Surveillance Blindspots:</a:t>
            </a:r>
            <a:r>
              <a:rPr>
                <a:solidFill>
                  <a:srgbClr val="9CA3AF"/>
                </a:solidFill>
              </a:rPr>
              <a:t> Hundreds of simultaneous flights over Indian FIRs make manual monitoring of descents and speed exceedances impossible.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3B5C"/>
                </a:solidFill>
              </a:rPr>
              <a:t>✦ Dense Incident Reports:</a:t>
            </a:r>
            <a:r>
              <a:rPr>
                <a:solidFill>
                  <a:srgbClr val="9CA3AF"/>
                </a:solidFill>
              </a:rPr>
              <a:t> Pilot and controller safety submissions are free-form, text-heavy, and difficult to cross-reference.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3B5C"/>
                </a:solidFill>
              </a:rPr>
              <a:t>✦ Causal Speculation:</a:t>
            </a:r>
            <a:r>
              <a:rPr>
                <a:solidFill>
                  <a:srgbClr val="9CA3AF"/>
                </a:solidFill>
              </a:rPr>
              <a:t> Unverified systems frequently jump to premature conclusions without supporting evidence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70992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The AeroIntel Unified Surveillance Solution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[THE AEROINTEL SOLUTION]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Primary Indian Airspace Feed:</a:t>
            </a:r>
            <a:r>
              <a:rPr>
                <a:solidFill>
                  <a:srgbClr val="9CA3AF"/>
                </a:solidFill>
              </a:rPr>
              <a:t> Real-time ADS-B transponder ingest from OpenSky Network covering Delhi, Mumbai, BLR, and national FIRs.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Flightradar24 Tactical UI:</a:t>
            </a:r>
            <a:r>
              <a:rPr>
                <a:solidFill>
                  <a:srgbClr val="9CA3AF"/>
                </a:solidFill>
              </a:rPr>
              <a:t> Rotated aircraft icons (✈) tracking compass headings, calibrated altitude, and speed gauges.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Kinematic Anomaly Detection:</a:t>
            </a:r>
            <a:r>
              <a:rPr>
                <a:solidFill>
                  <a:srgbClr val="9CA3AF"/>
                </a:solidFill>
              </a:rPr>
              <a:t> Deterministic physical thresholds paired with unsupervised Isolation Forest machine learning.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Auditable Investigation Dossiers:</a:t>
            </a:r>
            <a:r>
              <a:rPr>
                <a:solidFill>
                  <a:srgbClr val="9CA3AF"/>
                </a:solidFill>
              </a:rPr>
              <a:t> Section 7 preliminary reports with strict lifecycle state machines and evidence linking.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02 OF 10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03 / 10 • SYSTEM ARCHITECTURE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Unified Triad Architecture: Telemetry, NLP &amp; Evidence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Three interlocking pillars delivering real-time surveillance, factual text mining, and auditable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3756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709928"/>
            <a:ext cx="330098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11096"/>
            <a:ext cx="275234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Pillar 1: Telemetry Stream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[PRIMARY OPENSKY RADAR]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Primary Stream:</a:t>
            </a:r>
            <a:r>
              <a:rPr>
                <a:solidFill>
                  <a:srgbClr val="9CA3AF"/>
                </a:solidFill>
              </a:rPr>
              <a:t> Live OpenSky Network REST API with geographic bounding box queries across Indian FIRs.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Flightradar24 Styling:</a:t>
            </a:r>
            <a:r>
              <a:rPr>
                <a:solidFill>
                  <a:srgbClr val="9CA3AF"/>
                </a:solidFill>
              </a:rPr>
              <a:t> Rotated aircraft markers, airline callsign decoding (IndiGo, Air India, SpiceJet, Akasa).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Kinematic Engine:</a:t>
            </a:r>
            <a:r>
              <a:rPr>
                <a:solidFill>
                  <a:srgbClr val="9CA3AF"/>
                </a:solidFill>
              </a:rPr>
              <a:t> Spherical Haversine distance, climb rates, and speed deltas.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91640"/>
            <a:ext cx="333756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53128" y="1709928"/>
            <a:ext cx="3300984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911096"/>
            <a:ext cx="275234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Pillar 2: Narrative NLP</a:t>
            </a:r>
          </a:p>
          <a:p>
            <a:pPr>
              <a:spcAft>
                <a:spcPts val="1000"/>
              </a:spcAft>
              <a:defRPr sz="900" b="1">
                <a:solidFill>
                  <a:srgbClr val="00E676"/>
                </a:solidFill>
              </a:defRPr>
            </a:pPr>
            <a:r>
              <a:t>[GROUNDED NLP PIPELINE]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Text Preprocessing:</a:t>
            </a:r>
            <a:r>
              <a:rPr>
                <a:solidFill>
                  <a:srgbClr val="9CA3AF"/>
                </a:solidFill>
              </a:rPr>
              <a:t> Normalization, deduplication, and multi-criterion query retrieval.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Extractive Summarizer:</a:t>
            </a:r>
            <a:r>
              <a:rPr>
                <a:solidFill>
                  <a:srgbClr val="9CA3AF"/>
                </a:solidFill>
              </a:rPr>
              <a:t> Verbatim sentence extraction guaranteeing 0% AI hallucination.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Supervised Classifier:</a:t>
            </a:r>
            <a:r>
              <a:rPr>
                <a:solidFill>
                  <a:srgbClr val="9CA3AF"/>
                </a:solidFill>
              </a:rPr>
              <a:t> TF-IDF vectorization with Logistic Regression categorizing incident 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3756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709928"/>
            <a:ext cx="3300984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911096"/>
            <a:ext cx="275234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Pillar 3: Shared Evidence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[EVIDENCE PROVENANCE]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A855F7"/>
                </a:solidFill>
              </a:rPr>
              <a:t>✦ Section 7 Dossiers:</a:t>
            </a:r>
            <a:r>
              <a:rPr>
                <a:solidFill>
                  <a:srgbClr val="9CA3AF"/>
                </a:solidFill>
              </a:rPr>
              <a:t> Standardized preliminary reports capturing measurements, deltas, and unknowns.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A855F7"/>
                </a:solidFill>
              </a:rPr>
              <a:t>✦ State Machine:</a:t>
            </a:r>
            <a:r>
              <a:rPr>
                <a:solidFill>
                  <a:srgbClr val="9CA3AF"/>
                </a:solidFill>
              </a:rPr>
              <a:t> Strict lifecycle transitions (Detected -&gt; Investigating -&gt; Confirmed/Closed).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A855F7"/>
                </a:solidFill>
              </a:rPr>
              <a:t>✦ Audit Integrity:</a:t>
            </a:r>
            <a:r>
              <a:rPr>
                <a:solidFill>
                  <a:srgbClr val="9CA3AF"/>
                </a:solidFill>
              </a:rPr>
              <a:t> Timestamped change logs enforcing mandatory evidence references.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03 OF 10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04 / 10 • TELEMETRY SURVEILLANCE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Primary Telemetry Surveillance &amp; Indian Airspace Engine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Real-time state vector acquisition and rigorous physical feature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70992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OpenSky Live Indian Radar Ingest (Flightradar24 Style)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[LIVE ADS-B SURVEILLANCE]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Real-Time National Ingest:</a:t>
            </a:r>
            <a:r>
              <a:rPr>
                <a:solidFill>
                  <a:srgbClr val="9CA3AF"/>
                </a:solidFill>
              </a:rPr>
              <a:t> Streams live transponder vectors across Delhi (DEL), Mumbai (BOM), Bengaluru (BLR), Chennai (MAA), and Kolkata (CCU).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Directional Aircraft Icons:</a:t>
            </a:r>
            <a:r>
              <a:rPr>
                <a:solidFill>
                  <a:srgbClr val="9CA3AF"/>
                </a:solidFill>
              </a:rPr>
              <a:t> Amber aircraft markers (✈) oriented along instantaneous heading vectors on dark radar tiles.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Airline Fleet Decoding:</a:t>
            </a:r>
            <a:r>
              <a:rPr>
                <a:solidFill>
                  <a:srgbClr val="9CA3AF"/>
                </a:solidFill>
              </a:rPr>
              <a:t> Automatic identification of IndiGo (6E), Air India (AI), SpiceJet (SG), Akasa (QP), and Vistara (UK).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Spherical Bounding Boxes:</a:t>
            </a:r>
            <a:r>
              <a:rPr>
                <a:solidFill>
                  <a:srgbClr val="9CA3AF"/>
                </a:solidFill>
              </a:rPr>
              <a:t> Dynamic Haversine queries covering regional FIR sectors (50 to 850 km).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709928"/>
            <a:ext cx="5084064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Kinematic Feature Engineering</a:t>
            </a:r>
          </a:p>
          <a:p>
            <a:pPr>
              <a:spcAft>
                <a:spcPts val="1000"/>
              </a:spcAft>
              <a:defRPr sz="900" b="1">
                <a:solidFill>
                  <a:srgbClr val="00E676"/>
                </a:solidFill>
              </a:defRPr>
            </a:pPr>
            <a:r>
              <a:t>[FEATURE EXTRACTION MATH]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Observation Ordering:</a:t>
            </a:r>
            <a:r>
              <a:rPr>
                <a:solidFill>
                  <a:srgbClr val="9CA3AF"/>
                </a:solidFill>
              </a:rPr>
              <a:t> Strict sequencing by aircraft ID and timestamp; duplicate timestamps purged.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Interval Calculation:</a:t>
            </a:r>
            <a:r>
              <a:rPr>
                <a:solidFill>
                  <a:srgbClr val="9CA3AF"/>
                </a:solidFill>
              </a:rPr>
              <a:t> Time delta (dt), calculated vertical rates, and acceleration/deceleration rates.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Flight Leg Isolation:</a:t>
            </a:r>
            <a:r>
              <a:rPr>
                <a:solidFill>
                  <a:srgbClr val="9CA3AF"/>
                </a:solidFill>
              </a:rPr>
              <a:t> Observation gaps exceeding 15 minutes automatically treated as separate flight legs.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Preservation of Unknowns:</a:t>
            </a:r>
            <a:r>
              <a:rPr>
                <a:solidFill>
                  <a:srgbClr val="9CA3AF"/>
                </a:solidFill>
              </a:rPr>
              <a:t> Missing sensor data strictly preserved as NaN; never artificially converted to zero.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04 OF 10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05 / 10 • ANOMALY DETECTION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Kinematic Anomaly Detection: Rules &amp; Isolation Forest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Dual-tier detection balancing transparent deterministic thresholds with multivariate machine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FFB300"/>
                </a:solidFill>
              </a:defRPr>
            </a:pPr>
            <a:r>
              <a:t>±3,000 FPM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Vertical Rate Exceedance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Flags steep climb or emergency descent maneuvers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FF3B5C"/>
                </a:solidFill>
              </a:defRPr>
            </a:pPr>
            <a:r>
              <a:t>275 KT (&lt;10K FT)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Low-Altitude Speed Limit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Flags FAA/ICAO speed exceedance in terminal areas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0F0FF"/>
                </a:solidFill>
              </a:defRPr>
            </a:pPr>
            <a:r>
              <a:t>180 SEC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Signal Interruption Gap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Flags transponder masking and receiver blackouts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0400"/>
            <a:ext cx="512064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218688"/>
            <a:ext cx="5084064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419856"/>
            <a:ext cx="453542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Deterministic Physics Rules</a:t>
            </a:r>
          </a:p>
          <a:p>
            <a:pPr>
              <a:spcAft>
                <a:spcPts val="1000"/>
              </a:spcAft>
              <a:defRPr sz="900" b="1">
                <a:solidFill>
                  <a:srgbClr val="FFB300"/>
                </a:solidFill>
              </a:defRPr>
            </a:pPr>
            <a:r>
              <a:t>[INTERPRETABLE RULES]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B300"/>
                </a:solidFill>
              </a:rPr>
              <a:t>✦ Direct Physical Exceedance:</a:t>
            </a:r>
            <a:r>
              <a:rPr>
                <a:solidFill>
                  <a:srgbClr val="9CA3AF"/>
                </a:solidFill>
              </a:rPr>
              <a:t> Transparent threshold evaluation on vertical rates, low-altitude speeds, and signal gaps.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B300"/>
                </a:solidFill>
              </a:rPr>
              <a:t>✦ Operational Context:</a:t>
            </a:r>
            <a:r>
              <a:rPr>
                <a:solidFill>
                  <a:srgbClr val="9CA3AF"/>
                </a:solidFill>
              </a:rPr>
              <a:t> Flags movements for human review without claiming emergency or pilot fault.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B300"/>
                </a:solidFill>
              </a:rPr>
              <a:t>✦ One-Click Dossier Creation:</a:t>
            </a:r>
            <a:r>
              <a:rPr>
                <a:solidFill>
                  <a:srgbClr val="9CA3AF"/>
                </a:solidFill>
              </a:rPr>
              <a:t> Automatically generates Section 7 preliminary reports with observed values and 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12064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1868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419856"/>
            <a:ext cx="453542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Unsupervised ML: Isolation Forest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[STATISTICAL OUTLIER MODEL]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Multivariate Tree Ensemble:</a:t>
            </a:r>
            <a:r>
              <a:rPr>
                <a:solidFill>
                  <a:srgbClr val="9CA3AF"/>
                </a:solidFill>
              </a:rPr>
              <a:t> Evaluates joint distributions of vertical rate, acceleration, altitude, and airspeed.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Robust Spatial Outliers:</a:t>
            </a:r>
            <a:r>
              <a:rPr>
                <a:solidFill>
                  <a:srgbClr val="9CA3AF"/>
                </a:solidFill>
              </a:rPr>
              <a:t> Identifies complex multidimensional maneuvers without requiring labeled ground truth.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Mandatory Ethical Guardrail:</a:t>
            </a:r>
            <a:r>
              <a:rPr>
                <a:solidFill>
                  <a:srgbClr val="9CA3AF"/>
                </a:solidFill>
              </a:rPr>
              <a:t> Tagged as 'Statistical outlier only; uncalibrated risk; not proof of an incident.'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05 OF 10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06 / 10 • NARRATIVE INTELLIGENCE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Incident NLP: Source-Grounded Summaries &amp; NER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Transforming voluntary safety narratives (ASRS/NTSB) into factual structured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709928"/>
            <a:ext cx="5084064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Extractive Summarization (0% Hallucination)</a:t>
            </a:r>
          </a:p>
          <a:p>
            <a:pPr>
              <a:spcAft>
                <a:spcPts val="1000"/>
              </a:spcAft>
              <a:defRPr sz="900" b="1">
                <a:solidFill>
                  <a:srgbClr val="00E676"/>
                </a:solidFill>
              </a:defRPr>
            </a:pPr>
            <a:r>
              <a:t>[FACTUAL INTEGRITY GUARANTEE]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Verbatim Sentence Extraction:</a:t>
            </a:r>
            <a:r>
              <a:rPr>
                <a:solidFill>
                  <a:srgbClr val="9CA3AF"/>
                </a:solidFill>
              </a:rPr>
              <a:t> Summaries consist exclusively of exact sentences from pilot/controller reports.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Zero Generative Extrapolation:</a:t>
            </a:r>
            <a:r>
              <a:rPr>
                <a:solidFill>
                  <a:srgbClr val="9CA3AF"/>
                </a:solidFill>
              </a:rPr>
              <a:t> Never invents injuries, damages, mechanical failures, or crew culpability.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Multi-Criterion Search:</a:t>
            </a:r>
            <a:r>
              <a:rPr>
                <a:solidFill>
                  <a:srgbClr val="9CA3AF"/>
                </a:solidFill>
              </a:rPr>
              <a:t> Instant full-text querying across report IDs, categories, dates, and operational keywords.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High-Frequency Incident Library:</a:t>
            </a:r>
            <a:r>
              <a:rPr>
                <a:solidFill>
                  <a:srgbClr val="9CA3AF"/>
                </a:solidFill>
              </a:rPr>
              <a:t> Categorizes events across turbulence, cabin depressurization, engines, and runway incursions.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70992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Named Entity Recognition &amp; Classification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[STRUCTURED EXTRACTION]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Regex Entity Parser:</a:t>
            </a:r>
            <a:r>
              <a:rPr>
                <a:solidFill>
                  <a:srgbClr val="9CA3AF"/>
                </a:solidFill>
              </a:rPr>
              <a:t> Accurately isolates aircraft models (B737, A320), runway headings (04L, 22R), and Flight Levels (FL350).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Deterministic Fallback:</a:t>
            </a:r>
            <a:r>
              <a:rPr>
                <a:solidFill>
                  <a:srgbClr val="9CA3AF"/>
                </a:solidFill>
              </a:rPr>
              <a:t> Ensures reliable metadata extraction even when machine learning libraries encounter missing tokens.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Category Mapping:</a:t>
            </a:r>
            <a:r>
              <a:rPr>
                <a:solidFill>
                  <a:srgbClr val="9CA3AF"/>
                </a:solidFill>
              </a:rPr>
              <a:t> Organizes free-form narrative text into structured taxonomy classes for safety analysis.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Analyst Verification:</a:t>
            </a:r>
            <a:r>
              <a:rPr>
                <a:solidFill>
                  <a:srgbClr val="9CA3AF"/>
                </a:solidFill>
              </a:rPr>
              <a:t> Directly links extracted entities to verbatim sentences in the original incident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06 OF 10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07 / 10 • MODEL EVALUATION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Incident Classification &amp; Empirical Validation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Supervised classification metrics and operational taxonomy performance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0E676"/>
                </a:solidFill>
              </a:defRPr>
            </a:pPr>
            <a:r>
              <a:t>89.2%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Classification Precision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High confidence on engine and depressurization narratives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0F0FF"/>
                </a:solidFill>
              </a:defRPr>
            </a:pPr>
            <a:r>
              <a:t>86.5%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Classification Recall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Consistent identification across core safety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EA5E9"/>
                </a:solidFill>
              </a:defRPr>
            </a:pPr>
            <a:r>
              <a:t>87.8%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Weighted F1-Score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Robust balance between precision and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0400"/>
            <a:ext cx="512064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21868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419856"/>
            <a:ext cx="453542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Supervised Classification Architecture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[NLP CLASSIFICATION PIPELINE]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TF-IDF Feature Representation:</a:t>
            </a:r>
            <a:r>
              <a:rPr>
                <a:solidFill>
                  <a:srgbClr val="9CA3AF"/>
                </a:solidFill>
              </a:rPr>
              <a:t> Sublinear term-frequency scaling filtering rare vocabulary and standard stopwords.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Logistic Regression Classifier:</a:t>
            </a:r>
            <a:r>
              <a:rPr>
                <a:solidFill>
                  <a:srgbClr val="9CA3AF"/>
                </a:solidFill>
              </a:rPr>
              <a:t> Multinomial classification providing calibrated class probabilities per narrative.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Cross-Validation Verification:</a:t>
            </a:r>
            <a:r>
              <a:rPr>
                <a:solidFill>
                  <a:srgbClr val="9CA3AF"/>
                </a:solidFill>
              </a:rPr>
              <a:t> Evaluated on stratified incident splits ensuring zero data leakage between train and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12064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18688"/>
            <a:ext cx="5084064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419856"/>
            <a:ext cx="453542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Taxonomy &amp; Error Analysis</a:t>
            </a:r>
          </a:p>
          <a:p>
            <a:pPr>
              <a:spcAft>
                <a:spcPts val="1000"/>
              </a:spcAft>
              <a:defRPr sz="900" b="1">
                <a:solidFill>
                  <a:srgbClr val="00E676"/>
                </a:solidFill>
              </a:defRPr>
            </a:pPr>
            <a:r>
              <a:t>[PERFORMANCE BOUNDARIES]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High Separation Performance:</a:t>
            </a:r>
            <a:r>
              <a:rPr>
                <a:solidFill>
                  <a:srgbClr val="9CA3AF"/>
                </a:solidFill>
              </a:rPr>
              <a:t> Near-perfect isolation on Weather Turbulence and Cabin Pressure Loss reports.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Boundary Analysis:</a:t>
            </a:r>
            <a:r>
              <a:rPr>
                <a:solidFill>
                  <a:srgbClr val="9CA3AF"/>
                </a:solidFill>
              </a:rPr>
              <a:t> Runway incursion vs. ground taxi confusion represents the primary overlap region.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Conservative Thresholding:</a:t>
            </a:r>
            <a:r>
              <a:rPr>
                <a:solidFill>
                  <a:srgbClr val="9CA3AF"/>
                </a:solidFill>
              </a:rPr>
              <a:t> Predictions below 0.60 confidence are flagged for manual analyst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07 OF 10</a:t>
            </a: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08 / 10 • EVIDENCE &amp; AUDIT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Shared Evidence Layer &amp; Investigation Lifecycle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Formal Section 7 preliminary reports and state machine lifecycle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70992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Section 7 Preliminary Dossier Schema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[STRUCTURED DOSSIER SCHEMA]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Observed Physical Quantities:</a:t>
            </a:r>
            <a:r>
              <a:rPr>
                <a:solidFill>
                  <a:srgbClr val="9CA3AF"/>
                </a:solidFill>
              </a:rPr>
              <a:t> Records exact sensor measurements, timestamps, and detection thresholds.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Calculated Kinematic Changes:</a:t>
            </a:r>
            <a:r>
              <a:rPr>
                <a:solidFill>
                  <a:srgbClr val="9CA3AF"/>
                </a:solidFill>
              </a:rPr>
              <a:t> Documents rate of change (fpm, deceleration) without speculative causation.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Explicit Unknowns Section:</a:t>
            </a:r>
            <a:r>
              <a:rPr>
                <a:solidFill>
                  <a:srgbClr val="9CA3AF"/>
                </a:solidFill>
              </a:rPr>
              <a:t> Obligatory declaration of unverified context (pilot intent, weather radar, cockpit voice).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Quality Warning Flags:</a:t>
            </a:r>
            <a:r>
              <a:rPr>
                <a:solidFill>
                  <a:srgbClr val="9CA3AF"/>
                </a:solidFill>
              </a:rPr>
              <a:t> Automatically attaches data confidence ratings and transponder reception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709928"/>
            <a:ext cx="5084064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Strict Lifecycle State Machine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[LIFECYCLE AUDIT TRAIL]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A855F7"/>
                </a:solidFill>
              </a:rPr>
              <a:t>✦ Deterministic State Flow:</a:t>
            </a:r>
            <a:r>
              <a:rPr>
                <a:solidFill>
                  <a:srgbClr val="9CA3AF"/>
                </a:solidFill>
              </a:rPr>
              <a:t> Detected -&gt; Under Investigation -&gt; Closed / Confirmed by Source.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A855F7"/>
                </a:solidFill>
              </a:rPr>
              <a:t>✦ Mandatory Evidence Enforcing:</a:t>
            </a:r>
            <a:r>
              <a:rPr>
                <a:solidFill>
                  <a:srgbClr val="9CA3AF"/>
                </a:solidFill>
              </a:rPr>
              <a:t> Transitioning to 'Confirmed' strictly requires valid evidence references.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A855F7"/>
                </a:solidFill>
              </a:rPr>
              <a:t>✦ Reversible Transitions:</a:t>
            </a:r>
            <a:r>
              <a:rPr>
                <a:solidFill>
                  <a:srgbClr val="9CA3AF"/>
                </a:solidFill>
              </a:rPr>
              <a:t> Permits reopening closed reports upon discovery of subsequent radar or flight data.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A855F7"/>
                </a:solidFill>
              </a:rPr>
              <a:t>✦ Timestamped Audit Logging:</a:t>
            </a:r>
            <a:r>
              <a:rPr>
                <a:solidFill>
                  <a:srgbClr val="9CA3AF"/>
                </a:solidFill>
              </a:rPr>
              <a:t> Maintains an append-only audit trail logging every reviewer modification.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08 OF 10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09 / 10 • SYSTEM VERIFICATION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Comprehensive Verification: 22 / 22 Tests Passing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Automated test coverage across geospatial math, kinematic detectors, NLP, and lifecycle states.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0E676"/>
                </a:solidFill>
              </a:defRPr>
            </a:pPr>
            <a:r>
              <a:t>22 / 22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Automated Tests Passing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Complete test coverage across all core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0F0FF"/>
                </a:solidFill>
              </a:defRPr>
            </a:pPr>
            <a:r>
              <a:t>100%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Regression Pass Rate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Zero regressions across geospatial, NLP, and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291840" cy="12801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01368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300" b="1">
                <a:solidFill>
                  <a:srgbClr val="0EA5E9"/>
                </a:solidFill>
              </a:defRPr>
            </a:pPr>
            <a:r>
              <a:t>1.22 SEC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Test Execution Time</a:t>
            </a:r>
          </a:p>
          <a:p>
            <a:pPr>
              <a:defRPr sz="900">
                <a:solidFill>
                  <a:srgbClr val="9CA3AF"/>
                </a:solidFill>
              </a:defRPr>
            </a:pPr>
            <a:r>
              <a:t>High-speed unit and integration testing 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0400"/>
            <a:ext cx="512064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218688"/>
            <a:ext cx="5084064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419856"/>
            <a:ext cx="453542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Module Validation Breakdown</a:t>
            </a:r>
          </a:p>
          <a:p>
            <a:pPr>
              <a:spcAft>
                <a:spcPts val="1000"/>
              </a:spcAft>
              <a:defRPr sz="900" b="1">
                <a:solidFill>
                  <a:srgbClr val="00E676"/>
                </a:solidFill>
              </a:defRPr>
            </a:pPr>
            <a:r>
              <a:t>[AUTOMATED TEST SUITE]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Geospatial Math:</a:t>
            </a:r>
            <a:r>
              <a:rPr>
                <a:solidFill>
                  <a:srgbClr val="9CA3AF"/>
                </a:solidFill>
              </a:rPr>
              <a:t> Haversine distance, boundary validation, and OpenSky bounding box verified.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Kinematic Detectors:</a:t>
            </a:r>
            <a:r>
              <a:rPr>
                <a:solidFill>
                  <a:srgbClr val="9CA3AF"/>
                </a:solidFill>
              </a:rPr>
              <a:t> Vertical rates, speed drops, telemetry gaps, and low-altitude exceedance verified.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E676"/>
                </a:solidFill>
              </a:rPr>
              <a:t>✦ Natural Language Processing:</a:t>
            </a:r>
            <a:r>
              <a:rPr>
                <a:solidFill>
                  <a:srgbClr val="9CA3AF"/>
                </a:solidFill>
              </a:rPr>
              <a:t> Deduplication, extractive summaries, entity extraction, and classifier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12064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1868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419856"/>
            <a:ext cx="453542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End-to-End Live Verification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[OPERATIONAL READINESS]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OpenSky Live Radar:</a:t>
            </a:r>
            <a:r>
              <a:rPr>
                <a:solidFill>
                  <a:srgbClr val="9CA3AF"/>
                </a:solidFill>
              </a:rPr>
              <a:t> Verified live ingest tracking 280+ real-time aircraft and detecting live exceedances.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Lifecycle Integrity:</a:t>
            </a:r>
            <a:r>
              <a:rPr>
                <a:solidFill>
                  <a:srgbClr val="9CA3AF"/>
                </a:solidFill>
              </a:rPr>
              <a:t> Verified state machine transitions and evidence requirement enforcement.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Self-Contained Deployment:</a:t>
            </a:r>
            <a:r>
              <a:rPr>
                <a:solidFill>
                  <a:srgbClr val="9CA3AF"/>
                </a:solidFill>
              </a:rPr>
              <a:t> Operates seamlessly on Python 3.12 with Streamlit and Plotly Scattergeo.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09 OF 10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347472"/>
            <a:ext cx="329184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0FF"/>
                </a:solidFill>
              </a:defRPr>
            </a:pPr>
            <a:r>
              <a:t>  10 / 10 • ROADMAP &amp; GOVERNANCE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Technical Boundaries, Ethics &amp; Enterprise Roadmap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Principled AI governance and multi-phase operational expansion 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709928"/>
            <a:ext cx="5084064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Operational Ethics &amp; Governance Guardrails</a:t>
            </a:r>
          </a:p>
          <a:p>
            <a:pPr>
              <a:spcAft>
                <a:spcPts val="1000"/>
              </a:spcAft>
              <a:defRPr sz="900" b="1">
                <a:solidFill>
                  <a:srgbClr val="FFB300"/>
                </a:solidFill>
              </a:defRPr>
            </a:pPr>
            <a:r>
              <a:t>[SAFETY ETHICS &amp; PRINCIPLES]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B300"/>
                </a:solidFill>
              </a:rPr>
              <a:t>✦ Zero Unverified Attribution:</a:t>
            </a:r>
            <a:r>
              <a:rPr>
                <a:solidFill>
                  <a:srgbClr val="9CA3AF"/>
                </a:solidFill>
              </a:rPr>
              <a:t> Telemetry anomalies are treated strictly as operational flags, never as proof of fault.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B300"/>
                </a:solidFill>
              </a:rPr>
              <a:t>✦ Preservation of Context:</a:t>
            </a:r>
            <a:r>
              <a:rPr>
                <a:solidFill>
                  <a:srgbClr val="9CA3AF"/>
                </a:solidFill>
              </a:rPr>
              <a:t> ATC procedures, wind shears, and weather diversions regularly cause valid vertical rate changes.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B300"/>
                </a:solidFill>
              </a:rPr>
              <a:t>✦ Human-in-the-Loop Workflow:</a:t>
            </a:r>
            <a:r>
              <a:rPr>
                <a:solidFill>
                  <a:srgbClr val="9CA3AF"/>
                </a:solidFill>
              </a:rPr>
              <a:t> System augments safety analysts rather than replacing certified accident investigators.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FFB300"/>
                </a:solidFill>
              </a:rPr>
              <a:t>✦ Responsible AI Deployment:</a:t>
            </a:r>
            <a:r>
              <a:rPr>
                <a:solidFill>
                  <a:srgbClr val="9CA3AF"/>
                </a:solidFill>
              </a:rPr>
              <a:t> Purely extractive summarization ensures complete auditability in high-stakes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120640" cy="4526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709928"/>
            <a:ext cx="5084064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11096"/>
            <a:ext cx="4535424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Target Enterprise Roadmap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[STRATEGIC ROADMAP]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Phase 1:</a:t>
            </a:r>
            <a:r>
              <a:rPr>
                <a:solidFill>
                  <a:srgbClr val="9CA3AF"/>
                </a:solidFill>
              </a:rPr>
              <a:t> Multi-Airspace Streaming: Expanding continuous OpenSky polling across high-density transcontinental corridors.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Phase 2:</a:t>
            </a:r>
            <a:r>
              <a:rPr>
                <a:solidFill>
                  <a:srgbClr val="9CA3AF"/>
                </a:solidFill>
              </a:rPr>
              <a:t> Weather &amp; ATC Context Integration: Ingesting NEXRAD radar and terminal weather to suppress benign weather maneuvers.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Phase 3:</a:t>
            </a:r>
            <a:r>
              <a:rPr>
                <a:solidFill>
                  <a:srgbClr val="9CA3AF"/>
                </a:solidFill>
              </a:rPr>
              <a:t> Real-Time Audio Transcription: Incorporating LiveATC communications with automatic named entity cross-referencing.</a:t>
            </a:r>
          </a:p>
          <a:p>
            <a:pPr>
              <a:spcAft>
                <a:spcPts val="900"/>
              </a:spcAft>
              <a:defRPr sz="1150"/>
            </a:pPr>
            <a:r>
              <a:rPr b="1">
                <a:solidFill>
                  <a:srgbClr val="00F0FF"/>
                </a:solidFill>
              </a:rPr>
              <a:t>✦ Phase 4:</a:t>
            </a:r>
            <a:r>
              <a:rPr>
                <a:solidFill>
                  <a:srgbClr val="9CA3AF"/>
                </a:solidFill>
              </a:rPr>
              <a:t> Multi-Agency Federation: Secure export pipelines to FAA, NTSB, and airline Flight Operations Quality Assurance (FOQA).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46520"/>
            <a:ext cx="10634472" cy="18288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10634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AEROINTEL FLIGHT INTELLIGENCE  •  REAL-TIME OPENSKY ADS-B SURVEILLANCE &amp; GROUNDED NLP  •  SLIDE 10 OF 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